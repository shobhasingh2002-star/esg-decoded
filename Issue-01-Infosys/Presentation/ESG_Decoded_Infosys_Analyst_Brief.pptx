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D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630-41F5-B2F8-A3BC02D2D0BB}"/>
              </c:ext>
            </c:extLst>
          </c:dPt>
          <c:dPt>
            <c:idx val="1"/>
            <c:bubble3D val="0"/>
            <c:spPr>
              <a:solidFill>
                <a:srgbClr val="DCEBD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630-41F5-B2F8-A3BC02D2D0BB}"/>
              </c:ext>
            </c:extLst>
          </c:dPt>
          <c:dPt>
            <c:idx val="2"/>
            <c:bubble3D val="0"/>
            <c:spPr>
              <a:solidFill>
                <a:srgbClr val="FAFC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630-41F5-B2F8-A3BC02D2D0BB}"/>
              </c:ext>
            </c:extLst>
          </c:dPt>
          <c:cat>
            <c:strRef>
              <c:f>Sheet1!$A$2:$A$4</c:f>
              <c:strCache>
                <c:ptCount val="3"/>
                <c:pt idx="0">
                  <c:v>Score</c:v>
                </c:pt>
                <c:pt idx="1">
                  <c:v>Remainder</c:v>
                </c:pt>
                <c:pt idx="2">
                  <c:v>Hidden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8.3000000000000007</c:v>
                </c:pt>
                <c:pt idx="1">
                  <c:v>1.7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630-41F5-B2F8-A3BC02D2D0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Renewable Electricity %</c:v>
                </c:pt>
              </c:strCache>
            </c:strRef>
          </c:tx>
          <c:spPr>
            <a:solidFill>
              <a:srgbClr val="3F8F5F">
                <a:alpha val="35000"/>
              </a:srgbClr>
            </a:solidFill>
            <a:effectLst/>
          </c:spPr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B3D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</c:v>
                </c:pt>
                <c:pt idx="1">
                  <c:v>63</c:v>
                </c:pt>
                <c:pt idx="2">
                  <c:v>72</c:v>
                </c:pt>
                <c:pt idx="3">
                  <c:v>78</c:v>
                </c:pt>
                <c:pt idx="4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65-4817-9E69-D31623155D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6D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C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ESG Score</c:v>
                </c:pt>
              </c:strCache>
            </c:strRef>
          </c:tx>
          <c:spPr>
            <a:solidFill>
              <a:srgbClr val="9FC7A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FC7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A50-48CD-A979-80772819FC7F}"/>
              </c:ext>
            </c:extLst>
          </c:dPt>
          <c:dPt>
            <c:idx val="1"/>
            <c:invertIfNegative val="0"/>
            <c:bubble3D val="0"/>
            <c:spPr>
              <a:solidFill>
                <a:srgbClr val="9FC7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50-48CD-A979-80772819FC7F}"/>
              </c:ext>
            </c:extLst>
          </c:dPt>
          <c:dPt>
            <c:idx val="2"/>
            <c:invertIfNegative val="0"/>
            <c:bubble3D val="0"/>
            <c:spPr>
              <a:solidFill>
                <a:srgbClr val="1F6D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A50-48CD-A979-80772819FC7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B3D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Wipro</c:v>
                </c:pt>
                <c:pt idx="1">
                  <c:v>TCS</c:v>
                </c:pt>
                <c:pt idx="2">
                  <c:v>Infosys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8.1</c:v>
                </c:pt>
                <c:pt idx="2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A50-48CD-A979-80772819FC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E6DC"/>
            </a:solidFill>
            <a:prstDash val="solid"/>
            <a:round/>
          </a:ln>
        </c:spPr>
        <c:txPr>
          <a:bodyPr/>
          <a:lstStyle/>
          <a:p>
            <a:pPr>
              <a:defRPr sz="1600" b="1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594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D36375-4D63-F520-C7D7-03DD96D93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56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0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 Decoded</a:t>
            </a:r>
            <a:endParaRPr lang="en-US" sz="7600" dirty="0"/>
          </a:p>
        </p:txBody>
      </p:sp>
      <p:sp>
        <p:nvSpPr>
          <p:cNvPr id="5" name="Shape 3"/>
          <p:cNvSpPr/>
          <p:nvPr/>
        </p:nvSpPr>
        <p:spPr>
          <a:xfrm>
            <a:off x="841248" y="2697480"/>
            <a:ext cx="2011680" cy="0"/>
          </a:xfrm>
          <a:prstGeom prst="line">
            <a:avLst/>
          </a:prstGeom>
          <a:noFill/>
          <a:ln w="25400">
            <a:solidFill>
              <a:srgbClr val="3F8F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5292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1F6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NO. 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Infosys Limited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42793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FY2024–25 Analyst Brief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62686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 &amp; Consulting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5989320"/>
            <a:ext cx="10515600" cy="0"/>
          </a:xfrm>
          <a:prstGeom prst="line">
            <a:avLst/>
          </a:prstGeom>
          <a:noFill/>
          <a:ln w="12700">
            <a:solidFill>
              <a:srgbClr val="D9E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108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6345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Prachi Singh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63459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NSE: INFY  ·  BSE: 500209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903720" cy="914400"/>
          </a:xfrm>
          <a:prstGeom prst="roundRect">
            <a:avLst>
              <a:gd name="adj" fmla="val 600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84832"/>
            <a:ext cx="493776" cy="4937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3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84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12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12" dirty="0"/>
          </a:p>
        </p:txBody>
      </p:sp>
      <p:sp>
        <p:nvSpPr>
          <p:cNvPr id="7" name="Text 5"/>
          <p:cNvSpPr/>
          <p:nvPr/>
        </p:nvSpPr>
        <p:spPr>
          <a:xfrm>
            <a:off x="1600200" y="202082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Maturity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3042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6903720" cy="914400"/>
          </a:xfrm>
          <a:prstGeom prst="roundRect">
            <a:avLst>
              <a:gd name="adj" fmla="val 600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45536"/>
            <a:ext cx="493776" cy="4937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3D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455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12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12" dirty="0"/>
          </a:p>
        </p:txBody>
      </p:sp>
      <p:sp>
        <p:nvSpPr>
          <p:cNvPr id="12" name="Text 10"/>
          <p:cNvSpPr/>
          <p:nvPr/>
        </p:nvSpPr>
        <p:spPr>
          <a:xfrm>
            <a:off x="1600200" y="30815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Strength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336499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995928"/>
            <a:ext cx="6903720" cy="914400"/>
          </a:xfrm>
          <a:prstGeom prst="roundRect">
            <a:avLst>
              <a:gd name="adj" fmla="val 600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06240"/>
            <a:ext cx="493776" cy="4937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3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062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12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12" dirty="0"/>
          </a:p>
        </p:txBody>
      </p:sp>
      <p:sp>
        <p:nvSpPr>
          <p:cNvPr id="17" name="Text 15"/>
          <p:cNvSpPr/>
          <p:nvPr/>
        </p:nvSpPr>
        <p:spPr>
          <a:xfrm>
            <a:off x="1600200" y="41422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4425696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3 Emissions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5056632"/>
            <a:ext cx="6903720" cy="914400"/>
          </a:xfrm>
          <a:prstGeom prst="roundRect">
            <a:avLst>
              <a:gd name="adj" fmla="val 600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266944"/>
            <a:ext cx="493776" cy="4937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3D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266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12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512" dirty="0"/>
          </a:p>
        </p:txBody>
      </p:sp>
      <p:sp>
        <p:nvSpPr>
          <p:cNvPr id="22" name="Text 20"/>
          <p:cNvSpPr/>
          <p:nvPr/>
        </p:nvSpPr>
        <p:spPr>
          <a:xfrm>
            <a:off x="1600200" y="520293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Watchlist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548640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Diversity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680960" y="2551176"/>
            <a:ext cx="3959352" cy="2743200"/>
          </a:xfrm>
          <a:prstGeom prst="roundRect">
            <a:avLst>
              <a:gd name="adj" fmla="val 2333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2752344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ESG SCORE</a:t>
            </a:r>
            <a:endParaRPr lang="en-US" sz="11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8746236" y="3054096"/>
          <a:ext cx="18288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7680960" y="3464886"/>
            <a:ext cx="3959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</a:t>
            </a:r>
            <a:endParaRPr lang="en-US" sz="3800" dirty="0"/>
          </a:p>
        </p:txBody>
      </p:sp>
      <p:sp>
        <p:nvSpPr>
          <p:cNvPr id="28" name="Text 25"/>
          <p:cNvSpPr/>
          <p:nvPr/>
        </p:nvSpPr>
        <p:spPr>
          <a:xfrm>
            <a:off x="7680960" y="3968496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680960" y="4242816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F6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Performer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ANALYST BRIEF  ·  INFOSYS FY2024–25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COMPANY SNAPSHOT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Infosys, In Six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59813"/>
            <a:ext cx="325526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₹1.6 L Cr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087014"/>
            <a:ext cx="3255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(APPROX., FY25)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874520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3984" y="2159813"/>
            <a:ext cx="325526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~3,17,000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43984" y="3087014"/>
            <a:ext cx="3255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65008" y="1874520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2168" y="2159813"/>
            <a:ext cx="325526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 2019–20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02168" y="3087014"/>
            <a:ext cx="3255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NEUTRAL SINCE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98925"/>
            <a:ext cx="325526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81.8%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5800" y="5126126"/>
            <a:ext cx="3255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ELECTRICITY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06824" y="3913632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4198925"/>
            <a:ext cx="325526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443984" y="5126126"/>
            <a:ext cx="3255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TARGET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5008" y="3913632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02168" y="4198925"/>
            <a:ext cx="325526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Bengaluru, IN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202168" y="5126126"/>
            <a:ext cx="3255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ANALYST BRIEF  ·  INFOSYS FY2024–25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ENVIRONMENTAL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Strong Is Infosys Environmentally?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81.8%</a:t>
            </a:r>
            <a:endParaRPr lang="en-US" sz="9700" dirty="0"/>
          </a:p>
        </p:txBody>
      </p:sp>
      <p:sp>
        <p:nvSpPr>
          <p:cNvPr id="5" name="Text 3"/>
          <p:cNvSpPr/>
          <p:nvPr/>
        </p:nvSpPr>
        <p:spPr>
          <a:xfrm>
            <a:off x="594360" y="3310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ELECTRICITY : INDIA OPERATIONS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3877056"/>
            <a:ext cx="82296" cy="82296"/>
          </a:xfrm>
          <a:prstGeom prst="ellipse">
            <a:avLst/>
          </a:prstGeom>
          <a:solidFill>
            <a:srgbClr val="3F8F5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neutral for 6 consecutive years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242816"/>
            <a:ext cx="82296" cy="82296"/>
          </a:xfrm>
          <a:prstGeom prst="ellipse">
            <a:avLst/>
          </a:prstGeom>
          <a:solidFill>
            <a:srgbClr val="3F8F5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2 emissions down ~18% year-on-year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608576"/>
            <a:ext cx="82296" cy="82296"/>
          </a:xfrm>
          <a:prstGeom prst="ellipse">
            <a:avLst/>
          </a:prstGeom>
          <a:solidFill>
            <a:srgbClr val="3F8F5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remains the primary long-term challenge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0B3D2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84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F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INSIGHT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542239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passed 80% for the first time, the next test is Scope 3, not electricity sourcing.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TREND</a:t>
            </a:r>
            <a:endParaRPr lang="en-US" sz="10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035040" y="1965960"/>
          <a:ext cx="5577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ANALYST BRIEF  ·  INFOSYS FY2024–25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SOCIAL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Inclusive Is Infosys's Workforce?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529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</a:t>
            </a:r>
            <a:endParaRPr lang="en-US" sz="76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914400" cy="0"/>
          </a:xfrm>
          <a:prstGeom prst="line">
            <a:avLst/>
          </a:prstGeom>
          <a:noFill/>
          <a:ln w="25400">
            <a:solidFill>
              <a:srgbClr val="3F8F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319272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WORKFORCE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06824" y="1783080"/>
            <a:ext cx="3529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22.2%</a:t>
            </a:r>
            <a:endParaRPr lang="en-US" sz="7600" dirty="0"/>
          </a:p>
        </p:txBody>
      </p:sp>
      <p:sp>
        <p:nvSpPr>
          <p:cNvPr id="8" name="Shape 6"/>
          <p:cNvSpPr/>
          <p:nvPr/>
        </p:nvSpPr>
        <p:spPr>
          <a:xfrm>
            <a:off x="4306824" y="3200400"/>
            <a:ext cx="914400" cy="0"/>
          </a:xfrm>
          <a:prstGeom prst="line">
            <a:avLst/>
          </a:prstGeom>
          <a:noFill/>
          <a:ln w="25400">
            <a:solidFill>
              <a:srgbClr val="3F8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06824" y="3319272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DIRECTORS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65008" y="1783080"/>
            <a:ext cx="3529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E7C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Years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8065008" y="3200400"/>
            <a:ext cx="914400" cy="0"/>
          </a:xfrm>
          <a:prstGeom prst="line">
            <a:avLst/>
          </a:prstGeom>
          <a:noFill/>
          <a:ln w="25400">
            <a:solidFill>
              <a:srgbClr val="D9E6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65008" y="3319272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COMPANIES FOR WOMEN (INDIA)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3434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~17-point gap between workforce-level and board-level female representation shows diversity gains are concentrated below the governance layer, the next frontier for progress.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ANALYST BRIEF  ·  INFOSYS FY2024–25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Board Structure Reduce Risk?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48156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D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8156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4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Majority Independent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5012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5012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40" dirty="0"/>
          </a:p>
        </p:txBody>
      </p:sp>
      <p:sp>
        <p:nvSpPr>
          <p:cNvPr id="10" name="Text 8"/>
          <p:cNvSpPr/>
          <p:nvPr/>
        </p:nvSpPr>
        <p:spPr>
          <a:xfrm>
            <a:off x="2734056" y="28803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DIRECTORS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34056" y="32918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Chair Key Committees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01868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D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186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40" dirty="0"/>
          </a:p>
        </p:txBody>
      </p:sp>
      <p:sp>
        <p:nvSpPr>
          <p:cNvPr id="14" name="Text 12"/>
          <p:cNvSpPr/>
          <p:nvPr/>
        </p:nvSpPr>
        <p:spPr>
          <a:xfrm>
            <a:off x="5010912" y="28803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COMMITTEE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10912" y="32918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Board-Level Oversight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78724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D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78724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40" dirty="0"/>
          </a:p>
        </p:txBody>
      </p:sp>
      <p:sp>
        <p:nvSpPr>
          <p:cNvPr id="18" name="Text 16"/>
          <p:cNvSpPr/>
          <p:nvPr/>
        </p:nvSpPr>
        <p:spPr>
          <a:xfrm>
            <a:off x="7287768" y="28803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SEPARATION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87768" y="32918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Chairman ≠ CEO/MD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355580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D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555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40" dirty="0"/>
          </a:p>
        </p:txBody>
      </p:sp>
      <p:sp>
        <p:nvSpPr>
          <p:cNvPr id="22" name="Text 20"/>
          <p:cNvSpPr/>
          <p:nvPr/>
        </p:nvSpPr>
        <p:spPr>
          <a:xfrm>
            <a:off x="9564624" y="28803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WHISTLEBLOWER POLICY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64624" y="32918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Place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0B3D2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443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F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VERDICT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68680" y="47091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structurally independent board with clean chair/CEO separation, the single strongest pillar in this ESG profile.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ANALYST BRIEF  ·  INFOSYS FY2024–25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TRENDS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Years of Compounding ESG Commitments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3749040"/>
            <a:ext cx="9244584" cy="0"/>
          </a:xfrm>
          <a:prstGeom prst="line">
            <a:avLst/>
          </a:prstGeom>
          <a:noFill/>
          <a:ln w="25400">
            <a:solidFill>
              <a:srgbClr val="D9E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2456" y="3648456"/>
            <a:ext cx="201168" cy="201168"/>
          </a:xfrm>
          <a:prstGeom prst="ellipse">
            <a:avLst/>
          </a:prstGeom>
          <a:solidFill>
            <a:srgbClr val="0B3D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 Neutral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across global operations</a:t>
            </a:r>
            <a:endParaRPr lang="en-US" sz="1400" b="1" dirty="0"/>
          </a:p>
        </p:txBody>
      </p:sp>
      <p:sp>
        <p:nvSpPr>
          <p:cNvPr id="9" name="Shape 7"/>
          <p:cNvSpPr/>
          <p:nvPr/>
        </p:nvSpPr>
        <p:spPr>
          <a:xfrm>
            <a:off x="4443984" y="3648456"/>
            <a:ext cx="201168" cy="201168"/>
          </a:xfrm>
          <a:prstGeom prst="ellipse">
            <a:avLst/>
          </a:prstGeom>
          <a:solidFill>
            <a:srgbClr val="0B3D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38728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Positive Vision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38728" y="4023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ambition announced</a:t>
            </a:r>
            <a:endParaRPr lang="en-US" sz="1400" b="1" dirty="0"/>
          </a:p>
        </p:txBody>
      </p:sp>
      <p:sp>
        <p:nvSpPr>
          <p:cNvPr id="13" name="Shape 11"/>
          <p:cNvSpPr/>
          <p:nvPr/>
        </p:nvSpPr>
        <p:spPr>
          <a:xfrm>
            <a:off x="7525512" y="3648456"/>
            <a:ext cx="201168" cy="201168"/>
          </a:xfrm>
          <a:prstGeom prst="ellipse">
            <a:avLst/>
          </a:prstGeom>
          <a:solidFill>
            <a:srgbClr val="0B3D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0256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20256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 Renewable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20256" y="4023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for the first time</a:t>
            </a:r>
            <a:endParaRPr lang="en-US" sz="1400" b="1" dirty="0"/>
          </a:p>
        </p:txBody>
      </p:sp>
      <p:sp>
        <p:nvSpPr>
          <p:cNvPr id="17" name="Shape 15"/>
          <p:cNvSpPr/>
          <p:nvPr/>
        </p:nvSpPr>
        <p:spPr>
          <a:xfrm>
            <a:off x="10607040" y="3648456"/>
            <a:ext cx="201168" cy="201168"/>
          </a:xfrm>
          <a:prstGeom prst="ellipse">
            <a:avLst/>
          </a:prstGeom>
          <a:solidFill>
            <a:srgbClr val="0B3D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1784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701784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 &amp; Rising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701784" y="4023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targets tightened</a:t>
            </a:r>
            <a:endParaRPr lang="en-US" sz="1400" b="1" dirty="0"/>
          </a:p>
        </p:txBody>
      </p:sp>
      <p:sp>
        <p:nvSpPr>
          <p:cNvPr id="21" name="Shape 19"/>
          <p:cNvSpPr/>
          <p:nvPr/>
        </p:nvSpPr>
        <p:spPr>
          <a:xfrm>
            <a:off x="1737360" y="5212080"/>
            <a:ext cx="8686800" cy="960120"/>
          </a:xfrm>
          <a:prstGeom prst="roundRect">
            <a:avLst>
              <a:gd name="adj" fmla="val 5714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53492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milestone builds on the last, this is a company tightening its own targets, not resetting them.</a:t>
            </a:r>
            <a:endParaRPr lang="en-US" sz="1350" b="1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ANALYST BRIEF  ·  INFOSYS FY2024–25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Infosys Stand — And Where Is It Headed?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EAF5EC"/>
          </a:solidFill>
          <a:ln w="12700">
            <a:solidFill>
              <a:srgbClr val="C6E3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854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governance</a:t>
            </a:r>
            <a:endParaRPr lang="en-US" sz="1400" b="1" dirty="0"/>
          </a:p>
        </p:txBody>
      </p:sp>
      <p:sp>
        <p:nvSpPr>
          <p:cNvPr id="8" name="Shape 6"/>
          <p:cNvSpPr/>
          <p:nvPr/>
        </p:nvSpPr>
        <p:spPr>
          <a:xfrm>
            <a:off x="3328416" y="1783080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BEDEA"/>
          </a:solidFill>
          <a:ln w="12700">
            <a:solidFill>
              <a:srgbClr val="EBCF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B4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65576" y="21854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&amp; board diversity</a:t>
            </a:r>
            <a:endParaRPr lang="en-US" sz="1400" b="1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EFF6FB"/>
          </a:solidFill>
          <a:ln w="12700">
            <a:solidFill>
              <a:srgbClr val="C9E0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72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E6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3649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AI demand</a:t>
            </a:r>
            <a:endParaRPr lang="en-US" sz="1400" b="1" dirty="0"/>
          </a:p>
        </p:txBody>
      </p:sp>
      <p:sp>
        <p:nvSpPr>
          <p:cNvPr id="14" name="Shape 12"/>
          <p:cNvSpPr/>
          <p:nvPr/>
        </p:nvSpPr>
        <p:spPr>
          <a:xfrm>
            <a:off x="3328416" y="2962656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BF7EF"/>
          </a:solidFill>
          <a:ln w="12700">
            <a:solidFill>
              <a:srgbClr val="E7D9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5576" y="3072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65576" y="33649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AI/data regulation</a:t>
            </a:r>
            <a:endParaRPr lang="en-US" sz="1400" b="1" dirty="0"/>
          </a:p>
        </p:txBody>
      </p:sp>
      <p:sp>
        <p:nvSpPr>
          <p:cNvPr id="17" name="Text 15"/>
          <p:cNvSpPr/>
          <p:nvPr/>
        </p:nvSpPr>
        <p:spPr>
          <a:xfrm>
            <a:off x="62636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73252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21854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32520" y="21854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2587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732520" y="2587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2990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Emissions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732520" y="2990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33924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732520" y="33924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B3D2E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449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9F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MOMENTUM SCORE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2960" y="5687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 / 10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926080" y="5715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C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↑ High   ·   Social → Stable   ·   Governance ↑ Improving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ANALYST BRIEF  ·  INFOSYS FY2024–25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· BENCHMARK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Infosys Compare to IT Services Peers?</a:t>
            </a:r>
            <a:endParaRPr lang="en-US" sz="2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600200"/>
          <a:ext cx="68580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58338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weighted methodology applied to all three, using each company's own FY2024-25 primary report.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54380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ALIGNMENT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543800" y="2103120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668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418320" y="2103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Aligned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43800" y="2761488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6680" y="27614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BRSR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418320" y="27614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Aligned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543800" y="3419856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6680" y="34198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CDP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418320" y="34198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Reported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543800" y="4078224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26680" y="4078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TCFD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418320" y="407822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Partial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543800" y="4736592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26680" y="47365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ISSB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418320" y="47365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Emerging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ANALYST BRIEF  ·  INFOSYS FY2024–25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Verdict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77640" cy="2606040"/>
          </a:xfrm>
          <a:prstGeom prst="roundRect">
            <a:avLst>
              <a:gd name="adj" fmla="val 2456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ESG SCORE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</a:t>
            </a:r>
            <a:endParaRPr lang="en-US" sz="9200" dirty="0"/>
          </a:p>
        </p:txBody>
      </p:sp>
      <p:sp>
        <p:nvSpPr>
          <p:cNvPr id="7" name="Text 5"/>
          <p:cNvSpPr/>
          <p:nvPr/>
        </p:nvSpPr>
        <p:spPr>
          <a:xfrm>
            <a:off x="2537460" y="232257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9F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 10</a:t>
            </a:r>
            <a:endParaRPr lang="en-US" sz="6600" b="1" dirty="0"/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C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7764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Performer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2167128" cy="2606040"/>
          </a:xfrm>
          <a:prstGeom prst="roundRect">
            <a:avLst>
              <a:gd name="adj" fmla="val 2532"/>
            </a:avLst>
          </a:prstGeom>
          <a:solidFill>
            <a:srgbClr val="EAF5EC"/>
          </a:solidFill>
          <a:ln w="12700">
            <a:solidFill>
              <a:srgbClr val="C6E3C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4855464" y="170078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82896" y="2157984"/>
            <a:ext cx="54864" cy="54864"/>
          </a:xfrm>
          <a:prstGeom prst="ellipse">
            <a:avLst/>
          </a:prstGeom>
          <a:solidFill>
            <a:srgbClr val="1F6D4F"/>
          </a:solidFill>
          <a:ln/>
        </p:spPr>
      </p:sp>
      <p:sp>
        <p:nvSpPr>
          <p:cNvPr id="13" name="Text 11"/>
          <p:cNvSpPr/>
          <p:nvPr/>
        </p:nvSpPr>
        <p:spPr>
          <a:xfrm>
            <a:off x="5001768" y="202996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independent governance</a:t>
            </a:r>
            <a:endParaRPr lang="en-US" sz="1100" b="1" dirty="0"/>
          </a:p>
        </p:txBody>
      </p:sp>
      <p:sp>
        <p:nvSpPr>
          <p:cNvPr id="14" name="Shape 12"/>
          <p:cNvSpPr/>
          <p:nvPr/>
        </p:nvSpPr>
        <p:spPr>
          <a:xfrm>
            <a:off x="4873752" y="2829637"/>
            <a:ext cx="54864" cy="54864"/>
          </a:xfrm>
          <a:prstGeom prst="ellipse">
            <a:avLst/>
          </a:prstGeom>
          <a:solidFill>
            <a:srgbClr val="1F6D4F"/>
          </a:solidFill>
          <a:ln/>
        </p:spPr>
      </p:sp>
      <p:sp>
        <p:nvSpPr>
          <p:cNvPr id="15" name="Text 13"/>
          <p:cNvSpPr/>
          <p:nvPr/>
        </p:nvSpPr>
        <p:spPr>
          <a:xfrm>
            <a:off x="5001768" y="260604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Tightening climate targets</a:t>
            </a:r>
            <a:endParaRPr lang="en-US" sz="1100" b="1" dirty="0"/>
          </a:p>
        </p:txBody>
      </p:sp>
      <p:sp>
        <p:nvSpPr>
          <p:cNvPr id="16" name="Shape 14"/>
          <p:cNvSpPr/>
          <p:nvPr/>
        </p:nvSpPr>
        <p:spPr>
          <a:xfrm>
            <a:off x="4873752" y="3401568"/>
            <a:ext cx="54864" cy="54864"/>
          </a:xfrm>
          <a:prstGeom prst="ellipse">
            <a:avLst/>
          </a:prstGeom>
          <a:solidFill>
            <a:srgbClr val="1F6D4F"/>
          </a:solidFill>
          <a:ln/>
        </p:spPr>
      </p:sp>
      <p:sp>
        <p:nvSpPr>
          <p:cNvPr id="17" name="Text 15"/>
          <p:cNvSpPr/>
          <p:nvPr/>
        </p:nvSpPr>
        <p:spPr>
          <a:xfrm>
            <a:off x="5001768" y="3182112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Assured disclosure quality</a:t>
            </a:r>
            <a:endParaRPr lang="en-US" sz="1100" b="1" dirty="0"/>
          </a:p>
        </p:txBody>
      </p:sp>
      <p:sp>
        <p:nvSpPr>
          <p:cNvPr id="18" name="Shape 16"/>
          <p:cNvSpPr/>
          <p:nvPr/>
        </p:nvSpPr>
        <p:spPr>
          <a:xfrm>
            <a:off x="7040880" y="1554480"/>
            <a:ext cx="2167128" cy="2606040"/>
          </a:xfrm>
          <a:prstGeom prst="roundRect">
            <a:avLst>
              <a:gd name="adj" fmla="val 2532"/>
            </a:avLst>
          </a:prstGeom>
          <a:solidFill>
            <a:srgbClr val="FBEDEA"/>
          </a:solidFill>
          <a:ln w="12700">
            <a:solidFill>
              <a:srgbClr val="EBCF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87184" y="170078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4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05472" y="2267712"/>
            <a:ext cx="54864" cy="54864"/>
          </a:xfrm>
          <a:prstGeom prst="ellipse">
            <a:avLst/>
          </a:prstGeom>
          <a:solidFill>
            <a:srgbClr val="B4523F"/>
          </a:solidFill>
          <a:ln/>
        </p:spPr>
      </p:sp>
      <p:sp>
        <p:nvSpPr>
          <p:cNvPr id="21" name="Text 19"/>
          <p:cNvSpPr/>
          <p:nvPr/>
        </p:nvSpPr>
        <p:spPr>
          <a:xfrm>
            <a:off x="7333488" y="202996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emissions trajectory</a:t>
            </a:r>
            <a:endParaRPr lang="en-US" sz="1100" b="1" dirty="0"/>
          </a:p>
        </p:txBody>
      </p:sp>
      <p:sp>
        <p:nvSpPr>
          <p:cNvPr id="22" name="Shape 20"/>
          <p:cNvSpPr/>
          <p:nvPr/>
        </p:nvSpPr>
        <p:spPr>
          <a:xfrm>
            <a:off x="7205472" y="2857069"/>
            <a:ext cx="54864" cy="54864"/>
          </a:xfrm>
          <a:prstGeom prst="ellipse">
            <a:avLst/>
          </a:prstGeom>
          <a:solidFill>
            <a:srgbClr val="B4523F"/>
          </a:solidFill>
          <a:ln/>
        </p:spPr>
      </p:sp>
      <p:sp>
        <p:nvSpPr>
          <p:cNvPr id="23" name="Text 21"/>
          <p:cNvSpPr/>
          <p:nvPr/>
        </p:nvSpPr>
        <p:spPr>
          <a:xfrm>
            <a:off x="7333488" y="260604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gender diversity</a:t>
            </a:r>
            <a:endParaRPr lang="en-US" sz="1100" b="1" dirty="0"/>
          </a:p>
        </p:txBody>
      </p:sp>
      <p:sp>
        <p:nvSpPr>
          <p:cNvPr id="24" name="Shape 22"/>
          <p:cNvSpPr/>
          <p:nvPr/>
        </p:nvSpPr>
        <p:spPr>
          <a:xfrm>
            <a:off x="7205472" y="3391562"/>
            <a:ext cx="54864" cy="54864"/>
          </a:xfrm>
          <a:prstGeom prst="ellipse">
            <a:avLst/>
          </a:prstGeom>
          <a:solidFill>
            <a:srgbClr val="B4523F"/>
          </a:solidFill>
          <a:ln/>
        </p:spPr>
      </p:sp>
      <p:sp>
        <p:nvSpPr>
          <p:cNvPr id="25" name="Text 23"/>
          <p:cNvSpPr/>
          <p:nvPr/>
        </p:nvSpPr>
        <p:spPr>
          <a:xfrm>
            <a:off x="7333488" y="3182112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sustainability gaps</a:t>
            </a:r>
            <a:endParaRPr lang="en-US" sz="1100" b="1" dirty="0"/>
          </a:p>
        </p:txBody>
      </p:sp>
      <p:sp>
        <p:nvSpPr>
          <p:cNvPr id="26" name="Shape 24"/>
          <p:cNvSpPr/>
          <p:nvPr/>
        </p:nvSpPr>
        <p:spPr>
          <a:xfrm>
            <a:off x="9372600" y="1554480"/>
            <a:ext cx="2167128" cy="2606040"/>
          </a:xfrm>
          <a:prstGeom prst="roundRect">
            <a:avLst>
              <a:gd name="adj" fmla="val 2532"/>
            </a:avLst>
          </a:prstGeom>
          <a:solidFill>
            <a:srgbClr val="EFF6FB"/>
          </a:solidFill>
          <a:ln w="12700">
            <a:solidFill>
              <a:srgbClr val="C9E0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18904" y="170078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6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WATCHLIST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37192" y="2270214"/>
            <a:ext cx="54864" cy="54864"/>
          </a:xfrm>
          <a:prstGeom prst="ellipse">
            <a:avLst/>
          </a:prstGeom>
          <a:solidFill>
            <a:srgbClr val="2E6D93"/>
          </a:solidFill>
          <a:ln/>
        </p:spPr>
      </p:sp>
      <p:sp>
        <p:nvSpPr>
          <p:cNvPr id="29" name="Text 27"/>
          <p:cNvSpPr/>
          <p:nvPr/>
        </p:nvSpPr>
        <p:spPr>
          <a:xfrm>
            <a:off x="9665208" y="202996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disclosure cadence</a:t>
            </a:r>
            <a:endParaRPr lang="en-US" sz="1100" b="1" dirty="0"/>
          </a:p>
        </p:txBody>
      </p:sp>
      <p:sp>
        <p:nvSpPr>
          <p:cNvPr id="30" name="Shape 28"/>
          <p:cNvSpPr/>
          <p:nvPr/>
        </p:nvSpPr>
        <p:spPr>
          <a:xfrm>
            <a:off x="9537192" y="2853101"/>
            <a:ext cx="54864" cy="54864"/>
          </a:xfrm>
          <a:prstGeom prst="ellipse">
            <a:avLst/>
          </a:prstGeom>
          <a:solidFill>
            <a:srgbClr val="2E6D93"/>
          </a:solidFill>
          <a:ln/>
        </p:spPr>
      </p:sp>
      <p:sp>
        <p:nvSpPr>
          <p:cNvPr id="31" name="Text 29"/>
          <p:cNvSpPr/>
          <p:nvPr/>
        </p:nvSpPr>
        <p:spPr>
          <a:xfrm>
            <a:off x="9665208" y="260604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diversity progression</a:t>
            </a:r>
            <a:endParaRPr lang="en-US" sz="1100" b="1" dirty="0"/>
          </a:p>
        </p:txBody>
      </p:sp>
      <p:sp>
        <p:nvSpPr>
          <p:cNvPr id="32" name="Shape 30"/>
          <p:cNvSpPr/>
          <p:nvPr/>
        </p:nvSpPr>
        <p:spPr>
          <a:xfrm>
            <a:off x="9537192" y="3401568"/>
            <a:ext cx="54864" cy="54864"/>
          </a:xfrm>
          <a:prstGeom prst="ellipse">
            <a:avLst/>
          </a:prstGeom>
          <a:solidFill>
            <a:srgbClr val="2E6D93"/>
          </a:solidFill>
          <a:ln/>
        </p:spPr>
      </p:sp>
      <p:sp>
        <p:nvSpPr>
          <p:cNvPr id="33" name="Text 31"/>
          <p:cNvSpPr/>
          <p:nvPr/>
        </p:nvSpPr>
        <p:spPr>
          <a:xfrm>
            <a:off x="9665208" y="3182112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maturity</a:t>
            </a:r>
            <a:endParaRPr lang="en-US" sz="1100" b="1" dirty="0"/>
          </a:p>
        </p:txBody>
      </p:sp>
      <p:sp>
        <p:nvSpPr>
          <p:cNvPr id="34" name="Shape 32"/>
          <p:cNvSpPr/>
          <p:nvPr/>
        </p:nvSpPr>
        <p:spPr>
          <a:xfrm>
            <a:off x="548640" y="4370832"/>
            <a:ext cx="11064240" cy="0"/>
          </a:xfrm>
          <a:prstGeom prst="line">
            <a:avLst/>
          </a:prstGeom>
          <a:noFill/>
          <a:ln w="12700">
            <a:solidFill>
              <a:srgbClr val="D9E6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471830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ESG Report FY24–25 · Integrated Annual Report FY2025 · BRSR disclosures · Wipro Sustainability Report FY2024-25 · TCS Integrated Annual Report FY2024-25.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5138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is analyst-style commentary compiled from public disclosures, not investment advice. Figures marked "~" are best-available public estimates.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D9E6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6108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Issue 01  ·  Analyst Brief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778240" y="6108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1F6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of Brief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664</Words>
  <Application>Microsoft Office PowerPoint</Application>
  <PresentationFormat>Widescreen</PresentationFormat>
  <Paragraphs>183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Prachi Singh</cp:lastModifiedBy>
  <cp:revision>2</cp:revision>
  <dcterms:created xsi:type="dcterms:W3CDTF">2026-07-28T10:22:29Z</dcterms:created>
  <dcterms:modified xsi:type="dcterms:W3CDTF">2026-07-28T10:38:07Z</dcterms:modified>
</cp:coreProperties>
</file>