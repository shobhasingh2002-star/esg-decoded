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6D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FB7-4C5D-A64A-F6B68D695FE0}"/>
              </c:ext>
            </c:extLst>
          </c:dPt>
          <c:dPt>
            <c:idx val="1"/>
            <c:bubble3D val="0"/>
            <c:spPr>
              <a:solidFill>
                <a:srgbClr val="DCEBD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FB7-4C5D-A64A-F6B68D695FE0}"/>
              </c:ext>
            </c:extLst>
          </c:dPt>
          <c:dPt>
            <c:idx val="2"/>
            <c:bubble3D val="0"/>
            <c:spPr>
              <a:solidFill>
                <a:srgbClr val="FAFC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FB7-4C5D-A64A-F6B68D695FE0}"/>
              </c:ext>
            </c:extLst>
          </c:dPt>
          <c:cat>
            <c:strRef>
              <c:f>Sheet1!$A$2:$A$4</c:f>
              <c:strCache>
                <c:ptCount val="3"/>
                <c:pt idx="0">
                  <c:v>Score</c:v>
                </c:pt>
                <c:pt idx="1">
                  <c:v>Remainder</c:v>
                </c:pt>
                <c:pt idx="2">
                  <c:v>Hidden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8.3000000000000007</c:v>
                </c:pt>
                <c:pt idx="1">
                  <c:v>1.7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FB7-4C5D-A64A-F6B68D695F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68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Renewable Electricity %</c:v>
                </c:pt>
              </c:strCache>
            </c:strRef>
          </c:tx>
          <c:spPr>
            <a:solidFill>
              <a:srgbClr val="3F8F5F">
                <a:alpha val="35000"/>
              </a:srgbClr>
            </a:solidFill>
            <a:effectLst/>
          </c:spPr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B3D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</c:v>
                </c:pt>
                <c:pt idx="1">
                  <c:v>63</c:v>
                </c:pt>
                <c:pt idx="2">
                  <c:v>72</c:v>
                </c:pt>
                <c:pt idx="3">
                  <c:v>78</c:v>
                </c:pt>
                <c:pt idx="4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DD-45C0-9EFB-36E6CE82D85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2094734554"/>
        <c:axId val="2094734552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E6DC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7C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Overall ESG Score</c:v>
                </c:pt>
              </c:strCache>
            </c:strRef>
          </c:tx>
          <c:spPr>
            <a:solidFill>
              <a:srgbClr val="9FC7A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3EA-4BFF-8BDE-9E0862F7CE8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F3EA-4BFF-8BDE-9E0862F7CE8F}"/>
              </c:ext>
            </c:extLst>
          </c:dPt>
          <c:dPt>
            <c:idx val="2"/>
            <c:invertIfNegative val="0"/>
            <c:bubble3D val="0"/>
            <c:spPr>
              <a:solidFill>
                <a:srgbClr val="1F6D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3EA-4BFF-8BDE-9E0862F7CE8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B3D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TCS</c:v>
                </c:pt>
                <c:pt idx="1">
                  <c:v>Wipro</c:v>
                </c:pt>
                <c:pt idx="2">
                  <c:v>Infosys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8.1</c:v>
                </c:pt>
                <c:pt idx="2">
                  <c:v>8.3000000000000007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3EA-4BFF-8BDE-9E0862F7CE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9E6DC"/>
            </a:solidFill>
            <a:prstDash val="solid"/>
            <a:round/>
          </a:ln>
        </c:spPr>
        <c:txPr>
          <a:bodyPr/>
          <a:lstStyle/>
          <a:p>
            <a:pPr>
              <a:defRPr sz="1600" b="1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3675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4115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DECODED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607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ESG Decoded</a:t>
            </a:r>
            <a:endParaRPr lang="en-US" sz="7600" dirty="0"/>
          </a:p>
        </p:txBody>
      </p:sp>
      <p:sp>
        <p:nvSpPr>
          <p:cNvPr id="5" name="Shape 3"/>
          <p:cNvSpPr/>
          <p:nvPr/>
        </p:nvSpPr>
        <p:spPr>
          <a:xfrm>
            <a:off x="841248" y="2697480"/>
            <a:ext cx="2011680" cy="0"/>
          </a:xfrm>
          <a:prstGeom prst="line">
            <a:avLst/>
          </a:prstGeom>
          <a:noFill/>
          <a:ln w="25400">
            <a:solidFill>
              <a:srgbClr val="3F8F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85292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1F6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 NO. 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Infosys Limited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42793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FY2024–25 Analyst Brief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626864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Services &amp; Consulting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5989320"/>
            <a:ext cx="10515600" cy="0"/>
          </a:xfrm>
          <a:prstGeom prst="line">
            <a:avLst/>
          </a:prstGeom>
          <a:noFill/>
          <a:ln w="12700">
            <a:solidFill>
              <a:srgbClr val="D9E6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6108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63459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Prachi Singh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0" y="63459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NSE: INFY  ·  BSE: 500209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· AT A GLANCE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903720" cy="914400"/>
          </a:xfrm>
          <a:prstGeom prst="roundRect">
            <a:avLst>
              <a:gd name="adj" fmla="val 6000"/>
            </a:avLst>
          </a:prstGeom>
          <a:solidFill>
            <a:srgbClr val="FAFCFA"/>
          </a:solidFill>
          <a:ln w="12700">
            <a:solidFill>
              <a:srgbClr val="D9E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84832"/>
            <a:ext cx="493776" cy="49377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3D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848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12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512" dirty="0"/>
          </a:p>
        </p:txBody>
      </p:sp>
      <p:sp>
        <p:nvSpPr>
          <p:cNvPr id="7" name="Text 5"/>
          <p:cNvSpPr/>
          <p:nvPr/>
        </p:nvSpPr>
        <p:spPr>
          <a:xfrm>
            <a:off x="1600200" y="202082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Maturity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2304288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Leading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2935224"/>
            <a:ext cx="6903720" cy="914400"/>
          </a:xfrm>
          <a:prstGeom prst="roundRect">
            <a:avLst>
              <a:gd name="adj" fmla="val 6000"/>
            </a:avLst>
          </a:prstGeom>
          <a:solidFill>
            <a:srgbClr val="FAFCFA"/>
          </a:solidFill>
          <a:ln w="12700">
            <a:solidFill>
              <a:srgbClr val="D9E6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145536"/>
            <a:ext cx="493776" cy="49377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3D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1455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12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12" dirty="0"/>
          </a:p>
        </p:txBody>
      </p:sp>
      <p:sp>
        <p:nvSpPr>
          <p:cNvPr id="12" name="Text 10"/>
          <p:cNvSpPr/>
          <p:nvPr/>
        </p:nvSpPr>
        <p:spPr>
          <a:xfrm>
            <a:off x="1600200" y="308152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Strength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3364992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995928"/>
            <a:ext cx="6903720" cy="914400"/>
          </a:xfrm>
          <a:prstGeom prst="roundRect">
            <a:avLst>
              <a:gd name="adj" fmla="val 6000"/>
            </a:avLst>
          </a:prstGeom>
          <a:solidFill>
            <a:srgbClr val="FAFCFA"/>
          </a:solidFill>
          <a:ln w="12700">
            <a:solidFill>
              <a:srgbClr val="D9E6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06240"/>
            <a:ext cx="493776" cy="49377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3D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2062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12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12" dirty="0"/>
          </a:p>
        </p:txBody>
      </p:sp>
      <p:sp>
        <p:nvSpPr>
          <p:cNvPr id="17" name="Text 15"/>
          <p:cNvSpPr/>
          <p:nvPr/>
        </p:nvSpPr>
        <p:spPr>
          <a:xfrm>
            <a:off x="1600200" y="414223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Risk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00200" y="4425696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3 Emissions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48640" y="5056632"/>
            <a:ext cx="6903720" cy="914400"/>
          </a:xfrm>
          <a:prstGeom prst="roundRect">
            <a:avLst>
              <a:gd name="adj" fmla="val 6000"/>
            </a:avLst>
          </a:prstGeom>
          <a:solidFill>
            <a:srgbClr val="FAFCFA"/>
          </a:solidFill>
          <a:ln w="12700">
            <a:solidFill>
              <a:srgbClr val="D9E6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266944"/>
            <a:ext cx="493776" cy="49377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3D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2669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12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512" dirty="0"/>
          </a:p>
        </p:txBody>
      </p:sp>
      <p:sp>
        <p:nvSpPr>
          <p:cNvPr id="22" name="Text 20"/>
          <p:cNvSpPr/>
          <p:nvPr/>
        </p:nvSpPr>
        <p:spPr>
          <a:xfrm>
            <a:off x="1600200" y="520293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FY2026 Watchlist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00200" y="548640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 Diversity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680960" y="2551176"/>
            <a:ext cx="3959352" cy="2743200"/>
          </a:xfrm>
          <a:prstGeom prst="roundRect">
            <a:avLst>
              <a:gd name="adj" fmla="val 2333"/>
            </a:avLst>
          </a:prstGeom>
          <a:solidFill>
            <a:srgbClr val="FAFCFA"/>
          </a:solidFill>
          <a:ln w="12700">
            <a:solidFill>
              <a:srgbClr val="D9E6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0" y="2752344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ESG SCORE</a:t>
            </a:r>
            <a:endParaRPr lang="en-US" sz="110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8746236" y="3054096"/>
          <a:ext cx="182880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Text 24"/>
          <p:cNvSpPr/>
          <p:nvPr/>
        </p:nvSpPr>
        <p:spPr>
          <a:xfrm>
            <a:off x="7680960" y="3456432"/>
            <a:ext cx="3959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8.3</a:t>
            </a:r>
            <a:endParaRPr lang="en-US" sz="3800" dirty="0"/>
          </a:p>
        </p:txBody>
      </p:sp>
      <p:sp>
        <p:nvSpPr>
          <p:cNvPr id="28" name="Text 25"/>
          <p:cNvSpPr/>
          <p:nvPr/>
        </p:nvSpPr>
        <p:spPr>
          <a:xfrm>
            <a:off x="7680960" y="3968496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10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680960" y="4242816"/>
            <a:ext cx="3959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F6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Performer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DECODED  ·  ANALYST BRIEF  ·  INFOSYS FY2024–25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COMPANY SNAPSHOT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Infosys, In Six Numbers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9584" cy="1783080"/>
          </a:xfrm>
          <a:prstGeom prst="roundRect">
            <a:avLst>
              <a:gd name="adj" fmla="val 3590"/>
            </a:avLst>
          </a:prstGeom>
          <a:solidFill>
            <a:srgbClr val="FAFCFA"/>
          </a:solidFill>
          <a:ln w="12700">
            <a:solidFill>
              <a:srgbClr val="D9E6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159813"/>
            <a:ext cx="325526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₹1.6 L Cr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3087014"/>
            <a:ext cx="3255264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(APPROX., FY25)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06824" y="1874520"/>
            <a:ext cx="3529584" cy="1783080"/>
          </a:xfrm>
          <a:prstGeom prst="roundRect">
            <a:avLst>
              <a:gd name="adj" fmla="val 3590"/>
            </a:avLst>
          </a:prstGeom>
          <a:solidFill>
            <a:srgbClr val="FAFCFA"/>
          </a:solidFill>
          <a:ln w="12700">
            <a:solidFill>
              <a:srgbClr val="D9E6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43984" y="2159813"/>
            <a:ext cx="325526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~3,17,000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443984" y="3087014"/>
            <a:ext cx="3255264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65008" y="1874520"/>
            <a:ext cx="3529584" cy="1783080"/>
          </a:xfrm>
          <a:prstGeom prst="roundRect">
            <a:avLst>
              <a:gd name="adj" fmla="val 3590"/>
            </a:avLst>
          </a:prstGeom>
          <a:solidFill>
            <a:srgbClr val="FAFCFA"/>
          </a:solidFill>
          <a:ln w="12700">
            <a:solidFill>
              <a:srgbClr val="D9E6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02168" y="2159813"/>
            <a:ext cx="325526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FY 2019–20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202168" y="3087014"/>
            <a:ext cx="3255264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NEUTRAL SINCE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13632"/>
            <a:ext cx="3529584" cy="1783080"/>
          </a:xfrm>
          <a:prstGeom prst="roundRect">
            <a:avLst>
              <a:gd name="adj" fmla="val 3590"/>
            </a:avLst>
          </a:prstGeom>
          <a:solidFill>
            <a:srgbClr val="FAFCFA"/>
          </a:solidFill>
          <a:ln w="12700">
            <a:solidFill>
              <a:srgbClr val="D9E6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198925"/>
            <a:ext cx="325526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81.8%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85800" y="5126126"/>
            <a:ext cx="3255264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ELECTRICITY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06824" y="3913632"/>
            <a:ext cx="3529584" cy="1783080"/>
          </a:xfrm>
          <a:prstGeom prst="roundRect">
            <a:avLst>
              <a:gd name="adj" fmla="val 3590"/>
            </a:avLst>
          </a:prstGeom>
          <a:solidFill>
            <a:srgbClr val="FAFCFA"/>
          </a:solidFill>
          <a:ln w="12700">
            <a:solidFill>
              <a:srgbClr val="D9E6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43984" y="4198925"/>
            <a:ext cx="325526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2040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443984" y="5126126"/>
            <a:ext cx="3255264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ZERO TARGET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5008" y="3913632"/>
            <a:ext cx="3529584" cy="1783080"/>
          </a:xfrm>
          <a:prstGeom prst="roundRect">
            <a:avLst>
              <a:gd name="adj" fmla="val 3590"/>
            </a:avLst>
          </a:prstGeom>
          <a:solidFill>
            <a:srgbClr val="FAFCFA"/>
          </a:solidFill>
          <a:ln w="12700">
            <a:solidFill>
              <a:srgbClr val="D9E6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02168" y="4198925"/>
            <a:ext cx="325526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Bengaluru, IN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202168" y="5126126"/>
            <a:ext cx="3255264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HEADQUARTERS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DECODED  ·  ANALYST BRIEF  ·  INFOSYS FY2024–25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ENVIRONMENTAL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Strong Is Infosys Environmentally?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81.8%</a:t>
            </a:r>
            <a:endParaRPr lang="en-US" sz="9700" dirty="0"/>
          </a:p>
        </p:txBody>
      </p:sp>
      <p:sp>
        <p:nvSpPr>
          <p:cNvPr id="5" name="Text 3"/>
          <p:cNvSpPr/>
          <p:nvPr/>
        </p:nvSpPr>
        <p:spPr>
          <a:xfrm>
            <a:off x="594360" y="33101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</a:t>
            </a:r>
            <a:r>
              <a:rPr lang="en-US" sz="1100" b="1" kern="0" spc="10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: </a:t>
            </a:r>
            <a:r>
              <a:rPr lang="en-US" sz="1100" b="1" kern="0" spc="1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OPERATIONS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3877056"/>
            <a:ext cx="82296" cy="82296"/>
          </a:xfrm>
          <a:prstGeom prst="ellipse">
            <a:avLst/>
          </a:prstGeom>
          <a:solidFill>
            <a:srgbClr val="3F8F5F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3749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neutral for 6 consecutive years</a:t>
            </a:r>
            <a:endParaRPr lang="en-US" sz="1350" b="1" dirty="0"/>
          </a:p>
        </p:txBody>
      </p:sp>
      <p:sp>
        <p:nvSpPr>
          <p:cNvPr id="8" name="Shape 6"/>
          <p:cNvSpPr/>
          <p:nvPr/>
        </p:nvSpPr>
        <p:spPr>
          <a:xfrm>
            <a:off x="594360" y="4242816"/>
            <a:ext cx="82296" cy="82296"/>
          </a:xfrm>
          <a:prstGeom prst="ellipse">
            <a:avLst/>
          </a:prstGeom>
          <a:solidFill>
            <a:srgbClr val="3F8F5F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4114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2 emissions down ~18% year-on-year</a:t>
            </a:r>
            <a:endParaRPr lang="en-US" sz="1350" b="1" dirty="0"/>
          </a:p>
        </p:txBody>
      </p:sp>
      <p:sp>
        <p:nvSpPr>
          <p:cNvPr id="10" name="Shape 8"/>
          <p:cNvSpPr/>
          <p:nvPr/>
        </p:nvSpPr>
        <p:spPr>
          <a:xfrm>
            <a:off x="594360" y="4608576"/>
            <a:ext cx="82296" cy="82296"/>
          </a:xfrm>
          <a:prstGeom prst="ellipse">
            <a:avLst/>
          </a:prstGeom>
          <a:solidFill>
            <a:srgbClr val="3F8F5F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4480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3 remains the primary long-term challenge</a:t>
            </a:r>
            <a:endParaRPr lang="en-US" sz="1350" b="1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5029200" cy="914400"/>
          </a:xfrm>
          <a:prstGeom prst="roundRect">
            <a:avLst>
              <a:gd name="adj" fmla="val 6000"/>
            </a:avLst>
          </a:prstGeom>
          <a:solidFill>
            <a:srgbClr val="0B3D2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184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9F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INSIGHT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77240" y="5422392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Renewables passed 80% for the first time, the next test is Scope 3, not electricity sourcing.</a:t>
            </a:r>
            <a:endParaRPr lang="en-US" sz="1200" b="1" dirty="0"/>
          </a:p>
        </p:txBody>
      </p:sp>
      <p:sp>
        <p:nvSpPr>
          <p:cNvPr id="15" name="Text 13"/>
          <p:cNvSpPr/>
          <p:nvPr/>
        </p:nvSpPr>
        <p:spPr>
          <a:xfrm>
            <a:off x="612648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TREND</a:t>
            </a:r>
            <a:endParaRPr lang="en-US" sz="105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6035040" y="1965960"/>
          <a:ext cx="55778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DECODED  ·  ANALYST BRIEF  ·  INFOSYS FY2024–25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· SOCIAL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Inclusive Is Infosys's Workforce?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5295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39%</a:t>
            </a:r>
            <a:endParaRPr lang="en-US" sz="76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914400" cy="0"/>
          </a:xfrm>
          <a:prstGeom prst="line">
            <a:avLst/>
          </a:prstGeom>
          <a:noFill/>
          <a:ln w="25400">
            <a:solidFill>
              <a:srgbClr val="3F8F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319272"/>
            <a:ext cx="3529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WORKFORCE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306824" y="1783080"/>
            <a:ext cx="35295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22.2%</a:t>
            </a:r>
            <a:endParaRPr lang="en-US" sz="7600" dirty="0"/>
          </a:p>
        </p:txBody>
      </p:sp>
      <p:sp>
        <p:nvSpPr>
          <p:cNvPr id="8" name="Shape 6"/>
          <p:cNvSpPr/>
          <p:nvPr/>
        </p:nvSpPr>
        <p:spPr>
          <a:xfrm>
            <a:off x="4306824" y="3200400"/>
            <a:ext cx="914400" cy="0"/>
          </a:xfrm>
          <a:prstGeom prst="line">
            <a:avLst/>
          </a:prstGeom>
          <a:noFill/>
          <a:ln w="25400">
            <a:solidFill>
              <a:srgbClr val="3F8F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06824" y="3319272"/>
            <a:ext cx="3529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DIRECTORS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065008" y="1783080"/>
            <a:ext cx="35295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6E7C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Years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8065008" y="3200400"/>
            <a:ext cx="914400" cy="0"/>
          </a:xfrm>
          <a:prstGeom prst="line">
            <a:avLst/>
          </a:prstGeom>
          <a:noFill/>
          <a:ln w="25400">
            <a:solidFill>
              <a:srgbClr val="D9E6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65008" y="3319272"/>
            <a:ext cx="3529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COMPANIES FOR WOMEN (INDIA)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11064240" cy="1280160"/>
          </a:xfrm>
          <a:prstGeom prst="roundRect">
            <a:avLst>
              <a:gd name="adj" fmla="val 4286"/>
            </a:avLst>
          </a:prstGeom>
          <a:solidFill>
            <a:srgbClr val="FAFCFA"/>
          </a:solidFill>
          <a:ln w="12700">
            <a:solidFill>
              <a:srgbClr val="D9E6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3434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~17-point gap between workforce-level and board-level female representation shows diversity gains are concentrated below the governance layer, the next frontier for progress.</a:t>
            </a:r>
            <a:endParaRPr lang="en-US" b="1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DECODED  ·  ANALYST BRIEF  ·  INFOSYS FY2024–25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· GOVERNANCE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Board Structure Reduce Risk?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48156" y="192024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6D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48156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4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Majority Independent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525012" y="192024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6D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5012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40" dirty="0"/>
          </a:p>
        </p:txBody>
      </p:sp>
      <p:sp>
        <p:nvSpPr>
          <p:cNvPr id="10" name="Text 8"/>
          <p:cNvSpPr/>
          <p:nvPr/>
        </p:nvSpPr>
        <p:spPr>
          <a:xfrm>
            <a:off x="2734056" y="288036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DIRECTORS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34056" y="329184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Chair Key Committees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801868" y="192024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6D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1868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40" dirty="0"/>
          </a:p>
        </p:txBody>
      </p:sp>
      <p:sp>
        <p:nvSpPr>
          <p:cNvPr id="14" name="Text 12"/>
          <p:cNvSpPr/>
          <p:nvPr/>
        </p:nvSpPr>
        <p:spPr>
          <a:xfrm>
            <a:off x="5010912" y="288036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COMMITTEE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10912" y="329184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Board-Level Oversight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78724" y="192024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6D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78724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40" dirty="0"/>
          </a:p>
        </p:txBody>
      </p:sp>
      <p:sp>
        <p:nvSpPr>
          <p:cNvPr id="18" name="Text 16"/>
          <p:cNvSpPr/>
          <p:nvPr/>
        </p:nvSpPr>
        <p:spPr>
          <a:xfrm>
            <a:off x="7287768" y="288036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SEPARATION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287768" y="329184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Chairman ≠ CEO/MD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355580" y="192024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6D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5558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40" dirty="0"/>
          </a:p>
        </p:txBody>
      </p:sp>
      <p:sp>
        <p:nvSpPr>
          <p:cNvPr id="22" name="Text 20"/>
          <p:cNvSpPr/>
          <p:nvPr/>
        </p:nvSpPr>
        <p:spPr>
          <a:xfrm>
            <a:off x="9564624" y="288036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WHISTLEBLOWER POLICY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564624" y="329184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Place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29768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0B3D2E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4439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9F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VERDICT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68680" y="470916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structurally independent board with clean chair/CEO separation, the single strongest pillar in this ESG profile.</a:t>
            </a:r>
            <a:endParaRPr lang="en-US" sz="2000" b="1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DECODED  ·  ANALYST BRIEF  ·  INFOSYS FY2024–25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· TRENDS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Years of Compounding ESG Commitments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63040" y="3749040"/>
            <a:ext cx="9244584" cy="0"/>
          </a:xfrm>
          <a:prstGeom prst="line">
            <a:avLst/>
          </a:prstGeom>
          <a:noFill/>
          <a:ln w="25400">
            <a:solidFill>
              <a:srgbClr val="D9E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62456" y="3648456"/>
            <a:ext cx="201168" cy="201168"/>
          </a:xfrm>
          <a:prstGeom prst="ellipse">
            <a:avLst/>
          </a:prstGeom>
          <a:solidFill>
            <a:srgbClr val="0B3D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48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2019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Carbon Neutral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across global operations</a:t>
            </a:r>
            <a:endParaRPr lang="en-US" sz="1200" b="1" dirty="0"/>
          </a:p>
        </p:txBody>
      </p:sp>
      <p:sp>
        <p:nvSpPr>
          <p:cNvPr id="9" name="Shape 7"/>
          <p:cNvSpPr/>
          <p:nvPr/>
        </p:nvSpPr>
        <p:spPr>
          <a:xfrm>
            <a:off x="4443984" y="3648456"/>
            <a:ext cx="201168" cy="201168"/>
          </a:xfrm>
          <a:prstGeom prst="ellipse">
            <a:avLst/>
          </a:prstGeom>
          <a:solidFill>
            <a:srgbClr val="0B3D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38728" y="2148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538728" y="2651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Climate Positive Vision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538728" y="40233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ambition announced</a:t>
            </a:r>
            <a:endParaRPr lang="en-US" sz="1200" b="1" dirty="0"/>
          </a:p>
        </p:txBody>
      </p:sp>
      <p:sp>
        <p:nvSpPr>
          <p:cNvPr id="13" name="Shape 11"/>
          <p:cNvSpPr/>
          <p:nvPr/>
        </p:nvSpPr>
        <p:spPr>
          <a:xfrm>
            <a:off x="7525512" y="3648456"/>
            <a:ext cx="201168" cy="201168"/>
          </a:xfrm>
          <a:prstGeom prst="ellipse">
            <a:avLst/>
          </a:prstGeom>
          <a:solidFill>
            <a:srgbClr val="0B3D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0256" y="2148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620256" y="2651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 Renewable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620256" y="40233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Crossed for the first time</a:t>
            </a:r>
            <a:endParaRPr lang="en-US" sz="1200" b="1" dirty="0"/>
          </a:p>
        </p:txBody>
      </p:sp>
      <p:sp>
        <p:nvSpPr>
          <p:cNvPr id="17" name="Shape 15"/>
          <p:cNvSpPr/>
          <p:nvPr/>
        </p:nvSpPr>
        <p:spPr>
          <a:xfrm>
            <a:off x="10607040" y="3648456"/>
            <a:ext cx="201168" cy="201168"/>
          </a:xfrm>
          <a:prstGeom prst="ellipse">
            <a:avLst/>
          </a:prstGeom>
          <a:solidFill>
            <a:srgbClr val="0B3D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01784" y="2148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701784" y="2651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82% &amp; Rising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701784" y="40233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2030 targets tightened</a:t>
            </a:r>
            <a:endParaRPr lang="en-US" sz="1200" b="1" dirty="0"/>
          </a:p>
        </p:txBody>
      </p:sp>
      <p:sp>
        <p:nvSpPr>
          <p:cNvPr id="21" name="Shape 19"/>
          <p:cNvSpPr/>
          <p:nvPr/>
        </p:nvSpPr>
        <p:spPr>
          <a:xfrm>
            <a:off x="1737360" y="5212080"/>
            <a:ext cx="8686800" cy="960120"/>
          </a:xfrm>
          <a:prstGeom prst="roundRect">
            <a:avLst>
              <a:gd name="adj" fmla="val 5714"/>
            </a:avLst>
          </a:prstGeom>
          <a:solidFill>
            <a:srgbClr val="FAFCFA"/>
          </a:solidFill>
          <a:ln w="12700">
            <a:solidFill>
              <a:srgbClr val="D9E6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0" y="534924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milestone builds on the last, this is a company tightening its own targets, not resetting them.</a:t>
            </a:r>
            <a:endParaRPr lang="en-US" sz="1600" b="1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DECODED  ·  ANALYST BRIEF  ·  INFOSYS FY2024–25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 ·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Infosys Stand — And Where Is It Headed?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51760" cy="1051560"/>
          </a:xfrm>
          <a:prstGeom prst="roundRect">
            <a:avLst>
              <a:gd name="adj" fmla="val 4348"/>
            </a:avLst>
          </a:prstGeom>
          <a:solidFill>
            <a:srgbClr val="EAF5EC"/>
          </a:solidFill>
          <a:ln w="12700">
            <a:solidFill>
              <a:srgbClr val="C6E3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92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18541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governance</a:t>
            </a:r>
            <a:endParaRPr lang="en-US" sz="1200" b="1" dirty="0"/>
          </a:p>
        </p:txBody>
      </p:sp>
      <p:sp>
        <p:nvSpPr>
          <p:cNvPr id="8" name="Shape 6"/>
          <p:cNvSpPr/>
          <p:nvPr/>
        </p:nvSpPr>
        <p:spPr>
          <a:xfrm>
            <a:off x="3328416" y="1783080"/>
            <a:ext cx="2651760" cy="1051560"/>
          </a:xfrm>
          <a:prstGeom prst="roundRect">
            <a:avLst>
              <a:gd name="adj" fmla="val 4348"/>
            </a:avLst>
          </a:prstGeom>
          <a:solidFill>
            <a:srgbClr val="FBEDEA"/>
          </a:solidFill>
          <a:ln w="12700">
            <a:solidFill>
              <a:srgbClr val="EBCF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5576" y="1892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45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65576" y="218541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3 &amp; board diversity</a:t>
            </a:r>
            <a:endParaRPr lang="en-US" sz="1200" b="1" dirty="0"/>
          </a:p>
        </p:txBody>
      </p:sp>
      <p:sp>
        <p:nvSpPr>
          <p:cNvPr id="11" name="Shape 9"/>
          <p:cNvSpPr/>
          <p:nvPr/>
        </p:nvSpPr>
        <p:spPr>
          <a:xfrm>
            <a:off x="548640" y="2962656"/>
            <a:ext cx="2651760" cy="1051560"/>
          </a:xfrm>
          <a:prstGeom prst="roundRect">
            <a:avLst>
              <a:gd name="adj" fmla="val 4348"/>
            </a:avLst>
          </a:prstGeom>
          <a:solidFill>
            <a:srgbClr val="EFF6FB"/>
          </a:solidFill>
          <a:ln w="12700">
            <a:solidFill>
              <a:srgbClr val="C9E0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0723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E6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33649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AI demand</a:t>
            </a:r>
            <a:endParaRPr lang="en-US" sz="1200" b="1" dirty="0"/>
          </a:p>
        </p:txBody>
      </p:sp>
      <p:sp>
        <p:nvSpPr>
          <p:cNvPr id="14" name="Shape 12"/>
          <p:cNvSpPr/>
          <p:nvPr/>
        </p:nvSpPr>
        <p:spPr>
          <a:xfrm>
            <a:off x="3328416" y="2962656"/>
            <a:ext cx="2651760" cy="1051560"/>
          </a:xfrm>
          <a:prstGeom prst="roundRect">
            <a:avLst>
              <a:gd name="adj" fmla="val 4348"/>
            </a:avLst>
          </a:prstGeom>
          <a:solidFill>
            <a:srgbClr val="FBF7EF"/>
          </a:solidFill>
          <a:ln w="12700">
            <a:solidFill>
              <a:srgbClr val="E7D9B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65576" y="30723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65576" y="33649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AI/data regulation</a:t>
            </a:r>
            <a:endParaRPr lang="en-US" sz="1200" b="1" dirty="0"/>
          </a:p>
        </p:txBody>
      </p:sp>
      <p:sp>
        <p:nvSpPr>
          <p:cNvPr id="17" name="Text 15"/>
          <p:cNvSpPr/>
          <p:nvPr/>
        </p:nvSpPr>
        <p:spPr>
          <a:xfrm>
            <a:off x="626364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1250" b="1" dirty="0"/>
          </a:p>
        </p:txBody>
      </p:sp>
      <p:sp>
        <p:nvSpPr>
          <p:cNvPr id="19" name="Text 17"/>
          <p:cNvSpPr/>
          <p:nvPr/>
        </p:nvSpPr>
        <p:spPr>
          <a:xfrm>
            <a:off x="8732520" y="1783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3640" y="21854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</a:t>
            </a:r>
            <a:endParaRPr lang="en-US" sz="1250" b="1" dirty="0"/>
          </a:p>
        </p:txBody>
      </p:sp>
      <p:sp>
        <p:nvSpPr>
          <p:cNvPr id="21" name="Text 19"/>
          <p:cNvSpPr/>
          <p:nvPr/>
        </p:nvSpPr>
        <p:spPr>
          <a:xfrm>
            <a:off x="8732520" y="218541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25877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1250" b="1" dirty="0"/>
          </a:p>
        </p:txBody>
      </p:sp>
      <p:sp>
        <p:nvSpPr>
          <p:cNvPr id="23" name="Text 21"/>
          <p:cNvSpPr/>
          <p:nvPr/>
        </p:nvSpPr>
        <p:spPr>
          <a:xfrm>
            <a:off x="8732520" y="25877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29900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3 Emissions</a:t>
            </a:r>
            <a:endParaRPr lang="en-US" sz="1250" b="1" dirty="0"/>
          </a:p>
        </p:txBody>
      </p:sp>
      <p:sp>
        <p:nvSpPr>
          <p:cNvPr id="25" name="Text 23"/>
          <p:cNvSpPr/>
          <p:nvPr/>
        </p:nvSpPr>
        <p:spPr>
          <a:xfrm>
            <a:off x="8732520" y="29900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63640" y="339242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Use</a:t>
            </a:r>
            <a:endParaRPr lang="en-US" sz="1250" b="1" dirty="0"/>
          </a:p>
        </p:txBody>
      </p:sp>
      <p:sp>
        <p:nvSpPr>
          <p:cNvPr id="27" name="Text 25"/>
          <p:cNvSpPr/>
          <p:nvPr/>
        </p:nvSpPr>
        <p:spPr>
          <a:xfrm>
            <a:off x="8732520" y="33924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★★☆☆☆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0B3D2E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54498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9F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MOMENTUM SCORE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22960" y="56875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8.8 / 10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2926080" y="57150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E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↑ High   ·   Social → Stable   ·   Governance ↑ Improving</a:t>
            </a:r>
            <a:endParaRPr lang="en-US" sz="1250" b="1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DECODED  ·  ANALYST BRIEF  ·  INFOSYS FY2024–25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 · BENCHMARK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Infosys Compare to IT Services Peers?</a:t>
            </a:r>
            <a:endParaRPr lang="en-US" sz="29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600200"/>
          <a:ext cx="685800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58338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comparison based on publicly disclosed FY2025 information; peer figures are directional estimates.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543800" y="1691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ALIGNMENT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543800" y="2103120"/>
            <a:ext cx="4114800" cy="548640"/>
          </a:xfrm>
          <a:prstGeom prst="roundRect">
            <a:avLst>
              <a:gd name="adj" fmla="val 8333"/>
            </a:avLst>
          </a:prstGeom>
          <a:solidFill>
            <a:srgbClr val="FAFCFA"/>
          </a:solidFill>
          <a:ln w="12700">
            <a:solidFill>
              <a:srgbClr val="D9E6D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26680" y="2103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418320" y="21031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Aligned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543800" y="2761488"/>
            <a:ext cx="4114800" cy="548640"/>
          </a:xfrm>
          <a:prstGeom prst="roundRect">
            <a:avLst>
              <a:gd name="adj" fmla="val 8333"/>
            </a:avLst>
          </a:prstGeom>
          <a:solidFill>
            <a:srgbClr val="FAFCFA"/>
          </a:solidFill>
          <a:ln w="12700">
            <a:solidFill>
              <a:srgbClr val="D9E6D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26680" y="27614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BRSR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418320" y="276148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Aligned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543800" y="3419856"/>
            <a:ext cx="4114800" cy="548640"/>
          </a:xfrm>
          <a:prstGeom prst="roundRect">
            <a:avLst>
              <a:gd name="adj" fmla="val 8333"/>
            </a:avLst>
          </a:prstGeom>
          <a:solidFill>
            <a:srgbClr val="FAFCFA"/>
          </a:solidFill>
          <a:ln w="12700">
            <a:solidFill>
              <a:srgbClr val="D9E6D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26680" y="34198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CDP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418320" y="341985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Reported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543800" y="4078224"/>
            <a:ext cx="4114800" cy="548640"/>
          </a:xfrm>
          <a:prstGeom prst="roundRect">
            <a:avLst>
              <a:gd name="adj" fmla="val 8333"/>
            </a:avLst>
          </a:prstGeom>
          <a:solidFill>
            <a:srgbClr val="FAFCFA"/>
          </a:solidFill>
          <a:ln w="12700">
            <a:solidFill>
              <a:srgbClr val="D9E6D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26680" y="407822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TCFD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418320" y="407822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Partial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543800" y="4736592"/>
            <a:ext cx="4114800" cy="548640"/>
          </a:xfrm>
          <a:prstGeom prst="roundRect">
            <a:avLst>
              <a:gd name="adj" fmla="val 8333"/>
            </a:avLst>
          </a:prstGeom>
          <a:solidFill>
            <a:srgbClr val="FAFCFA"/>
          </a:solidFill>
          <a:ln w="12700">
            <a:solidFill>
              <a:srgbClr val="D9E6D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26680" y="473659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ISSB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418320" y="473659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Emerging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DECODED  ·  ANALYST BRIEF  ·  INFOSYS FY2024–25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 · 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Verdict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977640" cy="2606040"/>
          </a:xfrm>
          <a:prstGeom prst="roundRect">
            <a:avLst>
              <a:gd name="adj" fmla="val 2456"/>
            </a:avLst>
          </a:prstGeom>
          <a:solidFill>
            <a:srgbClr val="0B3D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9F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ESG SCORE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8.3</a:t>
            </a:r>
            <a:endParaRPr lang="en-US" sz="9200" dirty="0"/>
          </a:p>
        </p:txBody>
      </p:sp>
      <p:sp>
        <p:nvSpPr>
          <p:cNvPr id="7" name="Text 5"/>
          <p:cNvSpPr/>
          <p:nvPr/>
        </p:nvSpPr>
        <p:spPr>
          <a:xfrm>
            <a:off x="3063240" y="27249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FC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 10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331012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CE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377647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Performer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9160" y="1554480"/>
            <a:ext cx="2167128" cy="2606040"/>
          </a:xfrm>
          <a:prstGeom prst="roundRect">
            <a:avLst>
              <a:gd name="adj" fmla="val 2532"/>
            </a:avLst>
          </a:prstGeom>
          <a:solidFill>
            <a:srgbClr val="EAF5EC"/>
          </a:solidFill>
          <a:ln w="12700">
            <a:solidFill>
              <a:srgbClr val="C6E3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55464" y="170078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6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STRENGTHS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76685" y="2185416"/>
            <a:ext cx="54864" cy="54864"/>
          </a:xfrm>
          <a:prstGeom prst="ellipse">
            <a:avLst/>
          </a:prstGeom>
          <a:solidFill>
            <a:srgbClr val="1F6D4F"/>
          </a:solidFill>
          <a:ln/>
        </p:spPr>
      </p:sp>
      <p:sp>
        <p:nvSpPr>
          <p:cNvPr id="13" name="Text 11"/>
          <p:cNvSpPr/>
          <p:nvPr/>
        </p:nvSpPr>
        <p:spPr>
          <a:xfrm>
            <a:off x="5001768" y="2029968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Mature, independent governance</a:t>
            </a:r>
            <a:endParaRPr lang="en-US" sz="1100" b="1" dirty="0"/>
          </a:p>
        </p:txBody>
      </p:sp>
      <p:sp>
        <p:nvSpPr>
          <p:cNvPr id="14" name="Shape 12"/>
          <p:cNvSpPr/>
          <p:nvPr/>
        </p:nvSpPr>
        <p:spPr>
          <a:xfrm>
            <a:off x="4892040" y="2834640"/>
            <a:ext cx="54864" cy="54864"/>
          </a:xfrm>
          <a:prstGeom prst="ellipse">
            <a:avLst/>
          </a:prstGeom>
          <a:solidFill>
            <a:srgbClr val="1F6D4F"/>
          </a:solidFill>
          <a:ln/>
        </p:spPr>
      </p:sp>
      <p:sp>
        <p:nvSpPr>
          <p:cNvPr id="15" name="Text 13"/>
          <p:cNvSpPr/>
          <p:nvPr/>
        </p:nvSpPr>
        <p:spPr>
          <a:xfrm>
            <a:off x="5001768" y="260604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Tightening climate targets</a:t>
            </a:r>
            <a:endParaRPr lang="en-US" sz="1100" b="1" dirty="0"/>
          </a:p>
        </p:txBody>
      </p:sp>
      <p:sp>
        <p:nvSpPr>
          <p:cNvPr id="16" name="Shape 14"/>
          <p:cNvSpPr/>
          <p:nvPr/>
        </p:nvSpPr>
        <p:spPr>
          <a:xfrm>
            <a:off x="4873752" y="3407348"/>
            <a:ext cx="54864" cy="54864"/>
          </a:xfrm>
          <a:prstGeom prst="ellipse">
            <a:avLst/>
          </a:prstGeom>
          <a:solidFill>
            <a:srgbClr val="1F6D4F"/>
          </a:solidFill>
          <a:ln/>
        </p:spPr>
      </p:sp>
      <p:sp>
        <p:nvSpPr>
          <p:cNvPr id="17" name="Text 15"/>
          <p:cNvSpPr/>
          <p:nvPr/>
        </p:nvSpPr>
        <p:spPr>
          <a:xfrm>
            <a:off x="5001768" y="3182112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Assured disclosure quality</a:t>
            </a:r>
            <a:endParaRPr lang="en-US" sz="1100" b="1" dirty="0"/>
          </a:p>
        </p:txBody>
      </p:sp>
      <p:sp>
        <p:nvSpPr>
          <p:cNvPr id="18" name="Shape 16"/>
          <p:cNvSpPr/>
          <p:nvPr/>
        </p:nvSpPr>
        <p:spPr>
          <a:xfrm>
            <a:off x="7040880" y="1554480"/>
            <a:ext cx="2167128" cy="2606040"/>
          </a:xfrm>
          <a:prstGeom prst="roundRect">
            <a:avLst>
              <a:gd name="adj" fmla="val 2532"/>
            </a:avLst>
          </a:prstGeom>
          <a:solidFill>
            <a:srgbClr val="FBEDEA"/>
          </a:solidFill>
          <a:ln w="12700">
            <a:solidFill>
              <a:srgbClr val="EBCF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87184" y="170078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45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05472" y="2241315"/>
            <a:ext cx="54864" cy="54864"/>
          </a:xfrm>
          <a:prstGeom prst="ellipse">
            <a:avLst/>
          </a:prstGeom>
          <a:solidFill>
            <a:srgbClr val="B4523F"/>
          </a:solidFill>
          <a:ln/>
        </p:spPr>
      </p:sp>
      <p:sp>
        <p:nvSpPr>
          <p:cNvPr id="21" name="Text 19"/>
          <p:cNvSpPr/>
          <p:nvPr/>
        </p:nvSpPr>
        <p:spPr>
          <a:xfrm>
            <a:off x="7333488" y="2029968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3 emissions trajectory</a:t>
            </a:r>
            <a:endParaRPr lang="en-US" sz="1100" b="1" dirty="0"/>
          </a:p>
        </p:txBody>
      </p:sp>
      <p:sp>
        <p:nvSpPr>
          <p:cNvPr id="22" name="Shape 20"/>
          <p:cNvSpPr/>
          <p:nvPr/>
        </p:nvSpPr>
        <p:spPr>
          <a:xfrm>
            <a:off x="7205472" y="2839816"/>
            <a:ext cx="54864" cy="54864"/>
          </a:xfrm>
          <a:prstGeom prst="ellipse">
            <a:avLst/>
          </a:prstGeom>
          <a:solidFill>
            <a:srgbClr val="B4523F"/>
          </a:solidFill>
          <a:ln/>
        </p:spPr>
      </p:sp>
      <p:sp>
        <p:nvSpPr>
          <p:cNvPr id="23" name="Text 21"/>
          <p:cNvSpPr/>
          <p:nvPr/>
        </p:nvSpPr>
        <p:spPr>
          <a:xfrm>
            <a:off x="7333488" y="260604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Board-level gender diversity</a:t>
            </a:r>
            <a:endParaRPr lang="en-US" sz="1100" b="1" dirty="0"/>
          </a:p>
        </p:txBody>
      </p:sp>
      <p:sp>
        <p:nvSpPr>
          <p:cNvPr id="24" name="Shape 22"/>
          <p:cNvSpPr/>
          <p:nvPr/>
        </p:nvSpPr>
        <p:spPr>
          <a:xfrm>
            <a:off x="7205472" y="3407348"/>
            <a:ext cx="54864" cy="54864"/>
          </a:xfrm>
          <a:prstGeom prst="ellipse">
            <a:avLst/>
          </a:prstGeom>
          <a:solidFill>
            <a:srgbClr val="B4523F"/>
          </a:solidFill>
          <a:ln/>
        </p:spPr>
      </p:sp>
      <p:sp>
        <p:nvSpPr>
          <p:cNvPr id="25" name="Text 23"/>
          <p:cNvSpPr/>
          <p:nvPr/>
        </p:nvSpPr>
        <p:spPr>
          <a:xfrm>
            <a:off x="7333488" y="3182112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sustainability gaps</a:t>
            </a:r>
            <a:endParaRPr lang="en-US" sz="1100" b="1" dirty="0"/>
          </a:p>
        </p:txBody>
      </p:sp>
      <p:sp>
        <p:nvSpPr>
          <p:cNvPr id="26" name="Shape 24"/>
          <p:cNvSpPr/>
          <p:nvPr/>
        </p:nvSpPr>
        <p:spPr>
          <a:xfrm>
            <a:off x="9372600" y="1554480"/>
            <a:ext cx="2167128" cy="2606040"/>
          </a:xfrm>
          <a:prstGeom prst="roundRect">
            <a:avLst>
              <a:gd name="adj" fmla="val 2532"/>
            </a:avLst>
          </a:prstGeom>
          <a:solidFill>
            <a:srgbClr val="EFF6FB"/>
          </a:solidFill>
          <a:ln w="12700">
            <a:solidFill>
              <a:srgbClr val="C9E0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18904" y="170078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6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WATCHLIST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537192" y="2263658"/>
            <a:ext cx="54864" cy="54864"/>
          </a:xfrm>
          <a:prstGeom prst="ellipse">
            <a:avLst/>
          </a:prstGeom>
          <a:solidFill>
            <a:srgbClr val="2E6D93"/>
          </a:solidFill>
          <a:ln/>
        </p:spPr>
      </p:sp>
      <p:sp>
        <p:nvSpPr>
          <p:cNvPr id="29" name="Text 27"/>
          <p:cNvSpPr/>
          <p:nvPr/>
        </p:nvSpPr>
        <p:spPr>
          <a:xfrm>
            <a:off x="9665208" y="2029968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3 disclosure cadence</a:t>
            </a:r>
            <a:endParaRPr lang="en-US" sz="1100" b="1" dirty="0"/>
          </a:p>
        </p:txBody>
      </p:sp>
      <p:sp>
        <p:nvSpPr>
          <p:cNvPr id="30" name="Shape 28"/>
          <p:cNvSpPr/>
          <p:nvPr/>
        </p:nvSpPr>
        <p:spPr>
          <a:xfrm>
            <a:off x="9537192" y="2839816"/>
            <a:ext cx="54864" cy="54864"/>
          </a:xfrm>
          <a:prstGeom prst="ellipse">
            <a:avLst/>
          </a:prstGeom>
          <a:solidFill>
            <a:srgbClr val="2E6D93"/>
          </a:solidFill>
          <a:ln/>
        </p:spPr>
      </p:sp>
      <p:sp>
        <p:nvSpPr>
          <p:cNvPr id="31" name="Text 29"/>
          <p:cNvSpPr/>
          <p:nvPr/>
        </p:nvSpPr>
        <p:spPr>
          <a:xfrm>
            <a:off x="9665208" y="260604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diversity progression</a:t>
            </a:r>
            <a:endParaRPr lang="en-US" sz="1100" b="1" dirty="0"/>
          </a:p>
        </p:txBody>
      </p:sp>
      <p:sp>
        <p:nvSpPr>
          <p:cNvPr id="32" name="Shape 30"/>
          <p:cNvSpPr/>
          <p:nvPr/>
        </p:nvSpPr>
        <p:spPr>
          <a:xfrm>
            <a:off x="9537192" y="3415974"/>
            <a:ext cx="54864" cy="54864"/>
          </a:xfrm>
          <a:prstGeom prst="ellipse">
            <a:avLst/>
          </a:prstGeom>
          <a:solidFill>
            <a:srgbClr val="2E6D93"/>
          </a:solidFill>
          <a:ln/>
        </p:spPr>
      </p:sp>
      <p:sp>
        <p:nvSpPr>
          <p:cNvPr id="33" name="Text 31"/>
          <p:cNvSpPr/>
          <p:nvPr/>
        </p:nvSpPr>
        <p:spPr>
          <a:xfrm>
            <a:off x="9665208" y="3182112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maturity</a:t>
            </a:r>
            <a:endParaRPr lang="en-US" sz="1100" b="1" dirty="0"/>
          </a:p>
        </p:txBody>
      </p:sp>
      <p:sp>
        <p:nvSpPr>
          <p:cNvPr id="34" name="Shape 32"/>
          <p:cNvSpPr/>
          <p:nvPr/>
        </p:nvSpPr>
        <p:spPr>
          <a:xfrm>
            <a:off x="548640" y="4370832"/>
            <a:ext cx="11064240" cy="0"/>
          </a:xfrm>
          <a:prstGeom prst="line">
            <a:avLst/>
          </a:prstGeom>
          <a:noFill/>
          <a:ln w="12700">
            <a:solidFill>
              <a:srgbClr val="D9E6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48640" y="471830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ESG Report FY24–25 · Integrated Annual Report FY2025 · BRSR disclosures · Wipro Form 20-F FY2025 · TCS FY2025 investor communications.</a:t>
            </a:r>
            <a:endParaRPr lang="en-US" sz="1050" b="1" dirty="0"/>
          </a:p>
        </p:txBody>
      </p:sp>
      <p:sp>
        <p:nvSpPr>
          <p:cNvPr id="37" name="Text 35"/>
          <p:cNvSpPr/>
          <p:nvPr/>
        </p:nvSpPr>
        <p:spPr>
          <a:xfrm>
            <a:off x="548640" y="5138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is analyst-style commentary compiled from public disclosures, not investment advice. Figures marked "~" are best-available public estimates.</a:t>
            </a:r>
            <a:endParaRPr lang="en-US" sz="950" b="1" dirty="0"/>
          </a:p>
        </p:txBody>
      </p:sp>
      <p:sp>
        <p:nvSpPr>
          <p:cNvPr id="38" name="Shape 36"/>
          <p:cNvSpPr/>
          <p:nvPr/>
        </p:nvSpPr>
        <p:spPr>
          <a:xfrm>
            <a:off x="548640" y="5989320"/>
            <a:ext cx="11064240" cy="0"/>
          </a:xfrm>
          <a:prstGeom prst="line">
            <a:avLst/>
          </a:prstGeom>
          <a:noFill/>
          <a:ln w="12700">
            <a:solidFill>
              <a:srgbClr val="D9E6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61081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Decoded  ·  Issue 01  ·  Analyst Brief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778240" y="61081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1F6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of Brief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662</Words>
  <Application>Microsoft Office PowerPoint</Application>
  <PresentationFormat>Widescreen</PresentationFormat>
  <Paragraphs>183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Prachi Singh</cp:lastModifiedBy>
  <cp:revision>4</cp:revision>
  <dcterms:created xsi:type="dcterms:W3CDTF">2026-07-26T06:09:41Z</dcterms:created>
  <dcterms:modified xsi:type="dcterms:W3CDTF">2026-07-26T11:15:31Z</dcterms:modified>
</cp:coreProperties>
</file>